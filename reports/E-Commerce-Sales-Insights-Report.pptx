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1128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2" y="7749538"/>
            <a:ext cx="1722627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2348" y="874217"/>
            <a:ext cx="13125703" cy="1726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520" y="1892808"/>
            <a:ext cx="13167360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5593" y="-1"/>
            <a:ext cx="569468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5195" y="2801238"/>
            <a:ext cx="753364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E-</a:t>
            </a:r>
            <a:r>
              <a:rPr dirty="0"/>
              <a:t>Commerce</a:t>
            </a:r>
            <a:r>
              <a:rPr dirty="0" spc="-110"/>
              <a:t> </a:t>
            </a:r>
            <a:r>
              <a:rPr dirty="0"/>
              <a:t>Sales</a:t>
            </a:r>
            <a:r>
              <a:rPr dirty="0" spc="-114"/>
              <a:t> </a:t>
            </a:r>
            <a:r>
              <a:rPr dirty="0"/>
              <a:t>Insight</a:t>
            </a:r>
            <a:r>
              <a:rPr dirty="0" spc="-95"/>
              <a:t> </a:t>
            </a:r>
            <a:r>
              <a:rPr dirty="0" spc="-10"/>
              <a:t>Report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25195" y="3777870"/>
            <a:ext cx="6915150" cy="78740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Transforming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raw</a:t>
            </a:r>
            <a:r>
              <a:rPr dirty="0" sz="1850" spc="-9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e-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commerce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data</a:t>
            </a:r>
            <a:r>
              <a:rPr dirty="0" sz="1850" spc="-8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into</a:t>
            </a:r>
            <a:r>
              <a:rPr dirty="0" sz="1850" spc="-8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actionable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business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intelligence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through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20">
                <a:solidFill>
                  <a:srgbClr val="C9D5DE"/>
                </a:solidFill>
                <a:latin typeface="Calibri"/>
                <a:cs typeface="Calibri"/>
              </a:rPr>
              <a:t>integrated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Python,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SQL,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and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Excel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analytics.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764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450"/>
              </a:spcBef>
            </a:pPr>
            <a:r>
              <a:rPr dirty="0" sz="2200"/>
              <a:t>The</a:t>
            </a:r>
            <a:r>
              <a:rPr dirty="0" sz="2200" spc="-25"/>
              <a:t> </a:t>
            </a:r>
            <a:r>
              <a:rPr dirty="0" sz="2200" spc="-10"/>
              <a:t>Challenge</a:t>
            </a:r>
            <a:endParaRPr sz="2200"/>
          </a:p>
          <a:p>
            <a:pPr marL="85090">
              <a:lnSpc>
                <a:spcPct val="100000"/>
              </a:lnSpc>
              <a:spcBef>
                <a:spcPts val="710"/>
              </a:spcBef>
            </a:pPr>
            <a:r>
              <a:rPr dirty="0"/>
              <a:t>Data</a:t>
            </a:r>
            <a:r>
              <a:rPr dirty="0" spc="-90"/>
              <a:t> </a:t>
            </a:r>
            <a:r>
              <a:rPr dirty="0"/>
              <a:t>Complexity</a:t>
            </a:r>
            <a:r>
              <a:rPr dirty="0" spc="-100"/>
              <a:t> </a:t>
            </a:r>
            <a:r>
              <a:rPr dirty="0"/>
              <a:t>Limiting</a:t>
            </a:r>
            <a:r>
              <a:rPr dirty="0" spc="-85"/>
              <a:t> </a:t>
            </a:r>
            <a:r>
              <a:rPr dirty="0" spc="-10"/>
              <a:t>Growth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25195" y="3171064"/>
            <a:ext cx="7355840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200"/>
              </a:lnSpc>
              <a:spcBef>
                <a:spcPts val="95"/>
              </a:spcBef>
            </a:pP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E-commerce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businesses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generate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massive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volumes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of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sales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data,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but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inconsistent,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unstructured,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and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duplicated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information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makes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analysis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nearly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impossible.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Companies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struggle</a:t>
            </a:r>
            <a:r>
              <a:rPr dirty="0" sz="185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to</a:t>
            </a:r>
            <a:r>
              <a:rPr dirty="0" sz="1850" spc="-7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track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performance,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identify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trends,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and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understand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customer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20">
                <a:solidFill>
                  <a:srgbClr val="C9D5DE"/>
                </a:solidFill>
                <a:latin typeface="Calibri"/>
                <a:cs typeface="Calibri"/>
              </a:rPr>
              <a:t>behavior—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missing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critical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growth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opportunities.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5195" y="5300683"/>
            <a:ext cx="7362825" cy="1169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35200"/>
              </a:lnSpc>
              <a:spcBef>
                <a:spcPts val="105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This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project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addresses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the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challenge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using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C9D5DE"/>
                </a:solidFill>
                <a:latin typeface="Calibri"/>
                <a:cs typeface="Calibri"/>
              </a:rPr>
              <a:t>Kaggle/GitHub</a:t>
            </a:r>
            <a:r>
              <a:rPr dirty="0" sz="1850" spc="-65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C9D5DE"/>
                </a:solidFill>
                <a:latin typeface="Calibri"/>
                <a:cs typeface="Calibri"/>
              </a:rPr>
              <a:t>dataset</a:t>
            </a:r>
            <a:r>
              <a:rPr dirty="0" sz="1850" spc="-80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with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a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complete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analytics</a:t>
            </a:r>
            <a:r>
              <a:rPr dirty="0" sz="185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workflow</a:t>
            </a:r>
            <a:r>
              <a:rPr dirty="0" sz="185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integrating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C9D5DE"/>
                </a:solidFill>
                <a:latin typeface="Calibri"/>
                <a:cs typeface="Calibri"/>
              </a:rPr>
              <a:t>Python,</a:t>
            </a:r>
            <a:r>
              <a:rPr dirty="0" sz="1850" spc="-55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C9D5DE"/>
                </a:solidFill>
                <a:latin typeface="Calibri"/>
                <a:cs typeface="Calibri"/>
              </a:rPr>
              <a:t>SQL,</a:t>
            </a:r>
            <a:r>
              <a:rPr dirty="0" sz="1850" spc="-35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C9D5DE"/>
                </a:solidFill>
                <a:latin typeface="Calibri"/>
                <a:cs typeface="Calibri"/>
              </a:rPr>
              <a:t>and</a:t>
            </a:r>
            <a:r>
              <a:rPr dirty="0" sz="1850" spc="-55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b="1">
                <a:solidFill>
                  <a:srgbClr val="C9D5DE"/>
                </a:solidFill>
                <a:latin typeface="Calibri"/>
                <a:cs typeface="Calibri"/>
              </a:rPr>
              <a:t>Excel</a:t>
            </a:r>
            <a:r>
              <a:rPr dirty="0" sz="1850" spc="-20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to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transform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chaos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into</a:t>
            </a:r>
            <a:r>
              <a:rPr dirty="0" sz="1850" spc="-7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clarity.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968613" y="3284092"/>
            <a:ext cx="4831715" cy="1452880"/>
          </a:xfrm>
          <a:custGeom>
            <a:avLst/>
            <a:gdLst/>
            <a:ahLst/>
            <a:cxnLst/>
            <a:rect l="l" t="t" r="r" b="b"/>
            <a:pathLst>
              <a:path w="4831715" h="1452879">
                <a:moveTo>
                  <a:pt x="4795646" y="0"/>
                </a:moveTo>
                <a:lnTo>
                  <a:pt x="35940" y="0"/>
                </a:lnTo>
                <a:lnTo>
                  <a:pt x="21967" y="2829"/>
                </a:lnTo>
                <a:lnTo>
                  <a:pt x="10541" y="10540"/>
                </a:lnTo>
                <a:lnTo>
                  <a:pt x="2829" y="21967"/>
                </a:lnTo>
                <a:lnTo>
                  <a:pt x="0" y="35941"/>
                </a:lnTo>
                <a:lnTo>
                  <a:pt x="0" y="1417066"/>
                </a:lnTo>
                <a:lnTo>
                  <a:pt x="2829" y="1431020"/>
                </a:lnTo>
                <a:lnTo>
                  <a:pt x="10540" y="1442402"/>
                </a:lnTo>
                <a:lnTo>
                  <a:pt x="21967" y="1450070"/>
                </a:lnTo>
                <a:lnTo>
                  <a:pt x="35940" y="1452880"/>
                </a:lnTo>
                <a:lnTo>
                  <a:pt x="4795646" y="1452880"/>
                </a:lnTo>
                <a:lnTo>
                  <a:pt x="4809620" y="1450070"/>
                </a:lnTo>
                <a:lnTo>
                  <a:pt x="4821046" y="1442402"/>
                </a:lnTo>
                <a:lnTo>
                  <a:pt x="4828758" y="1431020"/>
                </a:lnTo>
                <a:lnTo>
                  <a:pt x="4831588" y="1417066"/>
                </a:lnTo>
                <a:lnTo>
                  <a:pt x="4831588" y="35941"/>
                </a:lnTo>
                <a:lnTo>
                  <a:pt x="4828758" y="21967"/>
                </a:lnTo>
                <a:lnTo>
                  <a:pt x="4821046" y="10541"/>
                </a:lnTo>
                <a:lnTo>
                  <a:pt x="4809620" y="2829"/>
                </a:lnTo>
                <a:lnTo>
                  <a:pt x="4795646" y="0"/>
                </a:lnTo>
                <a:close/>
              </a:path>
            </a:pathLst>
          </a:custGeom>
          <a:solidFill>
            <a:srgbClr val="2F4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196196" y="3499230"/>
            <a:ext cx="146240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31,048</a:t>
            </a:r>
            <a:r>
              <a:rPr dirty="0" sz="220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C9D5DE"/>
                </a:solidFill>
                <a:latin typeface="Calibri"/>
                <a:cs typeface="Calibri"/>
              </a:rPr>
              <a:t>Rows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96196" y="4154550"/>
            <a:ext cx="1925955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Raw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data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processed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8968613" y="4976367"/>
            <a:ext cx="4831715" cy="1452880"/>
          </a:xfrm>
          <a:custGeom>
            <a:avLst/>
            <a:gdLst/>
            <a:ahLst/>
            <a:cxnLst/>
            <a:rect l="l" t="t" r="r" b="b"/>
            <a:pathLst>
              <a:path w="4831715" h="1452879">
                <a:moveTo>
                  <a:pt x="4795646" y="0"/>
                </a:moveTo>
                <a:lnTo>
                  <a:pt x="35940" y="0"/>
                </a:lnTo>
                <a:lnTo>
                  <a:pt x="21967" y="2809"/>
                </a:lnTo>
                <a:lnTo>
                  <a:pt x="10541" y="10477"/>
                </a:lnTo>
                <a:lnTo>
                  <a:pt x="2829" y="21859"/>
                </a:lnTo>
                <a:lnTo>
                  <a:pt x="0" y="35814"/>
                </a:lnTo>
                <a:lnTo>
                  <a:pt x="0" y="1416939"/>
                </a:lnTo>
                <a:lnTo>
                  <a:pt x="2829" y="1430912"/>
                </a:lnTo>
                <a:lnTo>
                  <a:pt x="10540" y="1442339"/>
                </a:lnTo>
                <a:lnTo>
                  <a:pt x="21967" y="1450050"/>
                </a:lnTo>
                <a:lnTo>
                  <a:pt x="35940" y="1452880"/>
                </a:lnTo>
                <a:lnTo>
                  <a:pt x="4795646" y="1452880"/>
                </a:lnTo>
                <a:lnTo>
                  <a:pt x="4809620" y="1450050"/>
                </a:lnTo>
                <a:lnTo>
                  <a:pt x="4821046" y="1442339"/>
                </a:lnTo>
                <a:lnTo>
                  <a:pt x="4828758" y="1430912"/>
                </a:lnTo>
                <a:lnTo>
                  <a:pt x="4831588" y="1416939"/>
                </a:lnTo>
                <a:lnTo>
                  <a:pt x="4831588" y="35814"/>
                </a:lnTo>
                <a:lnTo>
                  <a:pt x="4828758" y="21859"/>
                </a:lnTo>
                <a:lnTo>
                  <a:pt x="4821046" y="10477"/>
                </a:lnTo>
                <a:lnTo>
                  <a:pt x="4809620" y="2809"/>
                </a:lnTo>
                <a:lnTo>
                  <a:pt x="4795646" y="0"/>
                </a:lnTo>
                <a:close/>
              </a:path>
            </a:pathLst>
          </a:custGeom>
          <a:solidFill>
            <a:srgbClr val="2F4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196196" y="5191759"/>
            <a:ext cx="80899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3</a:t>
            </a:r>
            <a:r>
              <a:rPr dirty="0" sz="2200" spc="-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30">
                <a:solidFill>
                  <a:srgbClr val="C9D5DE"/>
                </a:solidFill>
                <a:latin typeface="Calibri"/>
                <a:cs typeface="Calibri"/>
              </a:rPr>
              <a:t>Tools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196196" y="5847079"/>
            <a:ext cx="177673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Python,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SQL,</a:t>
            </a:r>
            <a:r>
              <a:rPr dirty="0" sz="185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Excel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Calibri"/>
                <a:cs typeface="Calibri"/>
              </a:rPr>
              <a:t>Dashboard</a:t>
            </a:r>
            <a:r>
              <a:rPr dirty="0" spc="-90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Requirements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25195" y="2728975"/>
            <a:ext cx="263525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01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37730" y="3065526"/>
            <a:ext cx="3615054" cy="30480"/>
          </a:xfrm>
          <a:custGeom>
            <a:avLst/>
            <a:gdLst/>
            <a:ahLst/>
            <a:cxnLst/>
            <a:rect l="l" t="t" r="r" b="b"/>
            <a:pathLst>
              <a:path w="3615054" h="30480">
                <a:moveTo>
                  <a:pt x="3614674" y="0"/>
                </a:moveTo>
                <a:lnTo>
                  <a:pt x="0" y="0"/>
                </a:lnTo>
                <a:lnTo>
                  <a:pt x="0" y="30479"/>
                </a:lnTo>
                <a:lnTo>
                  <a:pt x="3614674" y="30479"/>
                </a:lnTo>
                <a:lnTo>
                  <a:pt x="3614674" y="0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825195" y="3221862"/>
            <a:ext cx="4940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0">
                <a:solidFill>
                  <a:srgbClr val="C9D5DE"/>
                </a:solidFill>
                <a:latin typeface="Calibri"/>
                <a:cs typeface="Calibri"/>
              </a:rPr>
              <a:t>KPIs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5195" y="3681679"/>
            <a:ext cx="3252470" cy="1169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200"/>
              </a:lnSpc>
              <a:spcBef>
                <a:spcPts val="100"/>
              </a:spcBef>
            </a:pP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Total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Revenue,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Orders,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Units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20">
                <a:solidFill>
                  <a:srgbClr val="C9D5DE"/>
                </a:solidFill>
                <a:latin typeface="Calibri"/>
                <a:cs typeface="Calibri"/>
              </a:rPr>
              <a:t>Sold,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Average</a:t>
            </a:r>
            <a:r>
              <a:rPr dirty="0" sz="1850" spc="-8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Order</a:t>
            </a:r>
            <a:r>
              <a:rPr dirty="0" sz="1850" spc="-7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Value,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Average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Quantity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Per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Order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679441" y="2728975"/>
            <a:ext cx="263525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02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691634" y="3065526"/>
            <a:ext cx="3615054" cy="30480"/>
          </a:xfrm>
          <a:custGeom>
            <a:avLst/>
            <a:gdLst/>
            <a:ahLst/>
            <a:cxnLst/>
            <a:rect l="l" t="t" r="r" b="b"/>
            <a:pathLst>
              <a:path w="3615054" h="30480">
                <a:moveTo>
                  <a:pt x="3614673" y="0"/>
                </a:moveTo>
                <a:lnTo>
                  <a:pt x="0" y="0"/>
                </a:lnTo>
                <a:lnTo>
                  <a:pt x="0" y="30479"/>
                </a:lnTo>
                <a:lnTo>
                  <a:pt x="3614673" y="30479"/>
                </a:lnTo>
                <a:lnTo>
                  <a:pt x="3614673" y="0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679441" y="3221862"/>
            <a:ext cx="156210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Visualizations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679441" y="3681679"/>
            <a:ext cx="3545840" cy="1550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200"/>
              </a:lnSpc>
              <a:spcBef>
                <a:spcPts val="100"/>
              </a:spcBef>
            </a:pP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Orders/Sales</a:t>
            </a:r>
            <a:r>
              <a:rPr dirty="0" sz="185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by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Month,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Top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5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States,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Sales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by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Gender,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Orders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by </a:t>
            </a:r>
            <a:r>
              <a:rPr dirty="0" sz="1850" spc="-20">
                <a:solidFill>
                  <a:srgbClr val="C9D5DE"/>
                </a:solidFill>
                <a:latin typeface="Calibri"/>
                <a:cs typeface="Calibri"/>
              </a:rPr>
              <a:t>Age/Gender,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Order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Status,</a:t>
            </a:r>
            <a:r>
              <a:rPr dirty="0" sz="1850" spc="-7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Channel Distribution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837730" y="6068821"/>
            <a:ext cx="7468870" cy="30480"/>
          </a:xfrm>
          <a:custGeom>
            <a:avLst/>
            <a:gdLst/>
            <a:ahLst/>
            <a:cxnLst/>
            <a:rect l="l" t="t" r="r" b="b"/>
            <a:pathLst>
              <a:path w="7468870" h="30479">
                <a:moveTo>
                  <a:pt x="7468616" y="0"/>
                </a:moveTo>
                <a:lnTo>
                  <a:pt x="0" y="0"/>
                </a:lnTo>
                <a:lnTo>
                  <a:pt x="0" y="30479"/>
                </a:lnTo>
                <a:lnTo>
                  <a:pt x="7468616" y="30479"/>
                </a:lnTo>
                <a:lnTo>
                  <a:pt x="7468616" y="0"/>
                </a:lnTo>
                <a:close/>
              </a:path>
            </a:pathLst>
          </a:custGeom>
          <a:solidFill>
            <a:srgbClr val="09978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825195" y="5732779"/>
            <a:ext cx="6297295" cy="1360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03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Interactive</a:t>
            </a:r>
            <a:r>
              <a:rPr dirty="0" sz="2200" spc="-8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Filters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Month,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Channel,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Product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Category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slicers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for</a:t>
            </a:r>
            <a:r>
              <a:rPr dirty="0" sz="1850" spc="-7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dynamic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exploration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195" y="2534157"/>
            <a:ext cx="487934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Methodology</a:t>
            </a:r>
            <a:r>
              <a:rPr dirty="0" spc="-80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 spc="-55"/>
              <a:t>Tools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25195" y="3978986"/>
            <a:ext cx="15906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Data</a:t>
            </a:r>
            <a:r>
              <a:rPr dirty="0" sz="220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Cleaning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5195" y="4439869"/>
            <a:ext cx="3992879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Python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(Pandas,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NumPy)</a:t>
            </a:r>
            <a:r>
              <a:rPr dirty="0" sz="1850" spc="-2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removed duplicates,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corrected</a:t>
            </a:r>
            <a:r>
              <a:rPr dirty="0" sz="1850" spc="-1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inconsistencies,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and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standardized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formats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243576" y="3978986"/>
            <a:ext cx="152781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Data</a:t>
            </a:r>
            <a:r>
              <a:rPr dirty="0" sz="220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Analysis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43576" y="4439869"/>
            <a:ext cx="3843654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SQL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functions</a:t>
            </a:r>
            <a:r>
              <a:rPr dirty="0" sz="1850" spc="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(GROUP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5">
                <a:solidFill>
                  <a:srgbClr val="C9D5DE"/>
                </a:solidFill>
                <a:latin typeface="Calibri"/>
                <a:cs typeface="Calibri"/>
              </a:rPr>
              <a:t>BY,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ORDER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BY,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subqueries)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analyzed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sales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performance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and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trends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661906" y="3978986"/>
            <a:ext cx="14535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Visualization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661906" y="4439869"/>
            <a:ext cx="3906520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Excel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dashboards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with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Power</a:t>
            </a:r>
            <a:r>
              <a:rPr dirty="0" sz="1850" spc="-7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Query, Power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Pivot,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charts,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KPIs,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and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interactive slicers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195" y="1682876"/>
            <a:ext cx="3461385" cy="139509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500"/>
              </a:lnSpc>
            </a:pPr>
            <a:r>
              <a:rPr dirty="0"/>
              <a:t>The </a:t>
            </a:r>
            <a:r>
              <a:rPr dirty="0" spc="-20"/>
              <a:t>Dashboard </a:t>
            </a:r>
            <a:r>
              <a:rPr dirty="0" spc="-10"/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25195" y="4140918"/>
            <a:ext cx="3769995" cy="2313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35200"/>
              </a:lnSpc>
              <a:spcBef>
                <a:spcPts val="105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consolidated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analytical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hub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providing stakeholders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with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both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high-</a:t>
            </a:r>
            <a:r>
              <a:rPr dirty="0" sz="1850" spc="-20">
                <a:solidFill>
                  <a:srgbClr val="C9D5DE"/>
                </a:solidFill>
                <a:latin typeface="Calibri"/>
                <a:cs typeface="Calibri"/>
              </a:rPr>
              <a:t>level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orientation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and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granular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control— transforming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complex</a:t>
            </a:r>
            <a:r>
              <a:rPr dirty="0" sz="1850" spc="-7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data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into</a:t>
            </a:r>
            <a:r>
              <a:rPr dirty="0" sz="1850" spc="-8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clear visualizations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for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strategic</a:t>
            </a:r>
            <a:r>
              <a:rPr dirty="0" sz="185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decision- making.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708" y="1377441"/>
            <a:ext cx="9877552" cy="53243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195" y="1149476"/>
            <a:ext cx="76860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dirty="0" spc="-110"/>
              <a:t> </a:t>
            </a:r>
            <a:r>
              <a:rPr dirty="0"/>
              <a:t>Performance</a:t>
            </a:r>
            <a:r>
              <a:rPr dirty="0" spc="-120"/>
              <a:t> </a:t>
            </a:r>
            <a:r>
              <a:rPr dirty="0"/>
              <a:t>at</a:t>
            </a:r>
            <a:r>
              <a:rPr dirty="0" spc="-100"/>
              <a:t> </a:t>
            </a:r>
            <a:r>
              <a:rPr dirty="0"/>
              <a:t>a</a:t>
            </a:r>
            <a:r>
              <a:rPr dirty="0" spc="-95"/>
              <a:t> </a:t>
            </a:r>
            <a:r>
              <a:rPr dirty="0" spc="-10"/>
              <a:t>Glance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13433" y="2519299"/>
            <a:ext cx="2062480" cy="1405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00" spc="-10">
                <a:solidFill>
                  <a:srgbClr val="C9D5DE"/>
                </a:solidFill>
                <a:latin typeface="Calibri"/>
                <a:cs typeface="Calibri"/>
              </a:rPr>
              <a:t>$21.18M</a:t>
            </a:r>
            <a:endParaRPr sz="4400">
              <a:latin typeface="Calibri"/>
              <a:cs typeface="Calibri"/>
            </a:endParaRPr>
          </a:p>
          <a:p>
            <a:pPr algn="ctr" marL="3175">
              <a:lnSpc>
                <a:spcPct val="100000"/>
              </a:lnSpc>
              <a:spcBef>
                <a:spcPts val="2935"/>
              </a:spcBef>
            </a:pPr>
            <a:r>
              <a:rPr dirty="0" sz="2200" spc="-40">
                <a:solidFill>
                  <a:srgbClr val="C9D5DE"/>
                </a:solidFill>
                <a:latin typeface="Calibri"/>
                <a:cs typeface="Calibri"/>
              </a:rPr>
              <a:t>Total</a:t>
            </a:r>
            <a:r>
              <a:rPr dirty="0" sz="220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Revenue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5364" y="4123689"/>
            <a:ext cx="245872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Strong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sales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performance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58334" y="2519299"/>
            <a:ext cx="1401445" cy="1405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105"/>
              </a:spcBef>
            </a:pPr>
            <a:r>
              <a:rPr dirty="0" sz="4400" spc="-20">
                <a:solidFill>
                  <a:srgbClr val="C9D5DE"/>
                </a:solidFill>
                <a:latin typeface="Calibri"/>
                <a:cs typeface="Calibri"/>
              </a:rPr>
              <a:t>$28K</a:t>
            </a:r>
            <a:endParaRPr sz="4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dirty="0" sz="2200" spc="-35">
                <a:solidFill>
                  <a:srgbClr val="C9D5DE"/>
                </a:solidFill>
                <a:latin typeface="Calibri"/>
                <a:cs typeface="Calibri"/>
              </a:rPr>
              <a:t>Total</a:t>
            </a:r>
            <a:r>
              <a:rPr dirty="0" sz="2200" spc="-8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Orders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31233" y="4123689"/>
            <a:ext cx="225425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High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customer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demand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389111" y="2519299"/>
            <a:ext cx="1167130" cy="1405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20">
                <a:solidFill>
                  <a:srgbClr val="C9D5DE"/>
                </a:solidFill>
                <a:latin typeface="Calibri"/>
                <a:cs typeface="Calibri"/>
              </a:rPr>
              <a:t>$31K</a:t>
            </a:r>
            <a:endParaRPr sz="4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Units</a:t>
            </a:r>
            <a:r>
              <a:rPr dirty="0" sz="220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C9D5DE"/>
                </a:solidFill>
                <a:latin typeface="Calibri"/>
                <a:cs typeface="Calibri"/>
              </a:rPr>
              <a:t>Sold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680452" y="4123689"/>
            <a:ext cx="258191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Robust</a:t>
            </a:r>
            <a:r>
              <a:rPr dirty="0" sz="18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transaction</a:t>
            </a:r>
            <a:r>
              <a:rPr dirty="0" sz="1850" spc="-1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volume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352656" y="2519299"/>
            <a:ext cx="1868170" cy="1405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>
                <a:solidFill>
                  <a:srgbClr val="C9D5DE"/>
                </a:solidFill>
                <a:latin typeface="Calibri"/>
                <a:cs typeface="Calibri"/>
              </a:rPr>
              <a:t>$743.79</a:t>
            </a:r>
            <a:endParaRPr sz="44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2935"/>
              </a:spcBef>
            </a:pP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Avg</a:t>
            </a:r>
            <a:r>
              <a:rPr dirty="0" sz="2200" spc="-9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Order</a:t>
            </a:r>
            <a:r>
              <a:rPr dirty="0" sz="2200" spc="-8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Value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197208" y="4123689"/>
            <a:ext cx="217932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Profitable</a:t>
            </a:r>
            <a:r>
              <a:rPr dirty="0" sz="1850" spc="-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transactions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279896" y="5085029"/>
            <a:ext cx="2071370" cy="1912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5"/>
              </a:spcBef>
            </a:pPr>
            <a:r>
              <a:rPr dirty="0" sz="4400" spc="-20">
                <a:solidFill>
                  <a:srgbClr val="C9D5DE"/>
                </a:solidFill>
                <a:latin typeface="Calibri"/>
                <a:cs typeface="Calibri"/>
              </a:rPr>
              <a:t>1.10</a:t>
            </a:r>
            <a:endParaRPr sz="4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940"/>
              </a:spcBef>
            </a:pP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Avg</a:t>
            </a:r>
            <a:r>
              <a:rPr dirty="0" sz="220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Qty</a:t>
            </a:r>
            <a:r>
              <a:rPr dirty="0" sz="220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Per</a:t>
            </a:r>
            <a:r>
              <a:rPr dirty="0" sz="220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Order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Multi-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item</a:t>
            </a:r>
            <a:r>
              <a:rPr dirty="0" sz="185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purchases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2348" y="910209"/>
            <a:ext cx="825055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Sales</a:t>
            </a:r>
            <a:r>
              <a:rPr dirty="0" sz="4000" spc="-120"/>
              <a:t> </a:t>
            </a:r>
            <a:r>
              <a:rPr dirty="0" sz="4000" spc="-30"/>
              <a:t>Trends</a:t>
            </a:r>
            <a:r>
              <a:rPr dirty="0" sz="4000" spc="-90"/>
              <a:t> </a:t>
            </a:r>
            <a:r>
              <a:rPr dirty="0" sz="4000"/>
              <a:t>&amp;</a:t>
            </a:r>
            <a:r>
              <a:rPr dirty="0" sz="4000" spc="-100"/>
              <a:t> </a:t>
            </a:r>
            <a:r>
              <a:rPr dirty="0" sz="4000"/>
              <a:t>Geographic</a:t>
            </a:r>
            <a:r>
              <a:rPr dirty="0" sz="4000" spc="-95"/>
              <a:t> </a:t>
            </a:r>
            <a:r>
              <a:rPr dirty="0" sz="4000" spc="-10"/>
              <a:t>Performance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752348" y="2103882"/>
            <a:ext cx="23380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Seasonal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Pattern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857" y="2699892"/>
            <a:ext cx="5173980" cy="3436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52348" y="6326003"/>
            <a:ext cx="6062345" cy="73533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Sales</a:t>
            </a:r>
            <a:r>
              <a:rPr dirty="0" sz="170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peaked</a:t>
            </a:r>
            <a:r>
              <a:rPr dirty="0" sz="170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in</a:t>
            </a:r>
            <a:r>
              <a:rPr dirty="0" sz="1700" spc="-2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March</a:t>
            </a:r>
            <a:r>
              <a:rPr dirty="0" sz="170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at </a:t>
            </a:r>
            <a:r>
              <a:rPr dirty="0" sz="1700" b="1">
                <a:solidFill>
                  <a:srgbClr val="C9D5DE"/>
                </a:solidFill>
                <a:latin typeface="Calibri"/>
                <a:cs typeface="Calibri"/>
              </a:rPr>
              <a:t>$1.95M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,</a:t>
            </a:r>
            <a:r>
              <a:rPr dirty="0" sz="170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then</a:t>
            </a:r>
            <a:r>
              <a:rPr dirty="0" sz="170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declined</a:t>
            </a:r>
            <a:r>
              <a:rPr dirty="0" sz="170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C9D5DE"/>
                </a:solidFill>
                <a:latin typeface="Calibri"/>
                <a:cs typeface="Calibri"/>
              </a:rPr>
              <a:t>16.9%</a:t>
            </a:r>
            <a:r>
              <a:rPr dirty="0" sz="1700" spc="-25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to</a:t>
            </a:r>
            <a:r>
              <a:rPr dirty="0" sz="1700" spc="-1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Calibri"/>
                <a:cs typeface="Calibri"/>
              </a:rPr>
              <a:t>December,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700" spc="-10">
                <a:solidFill>
                  <a:srgbClr val="C9D5DE"/>
                </a:solidFill>
                <a:latin typeface="Calibri"/>
                <a:cs typeface="Calibri"/>
              </a:rPr>
              <a:t>revealing</a:t>
            </a:r>
            <a:r>
              <a:rPr dirty="0" sz="170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strong</a:t>
            </a:r>
            <a:r>
              <a:rPr dirty="0" sz="170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seasonality</a:t>
            </a:r>
            <a:r>
              <a:rPr dirty="0" sz="170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requiring</a:t>
            </a:r>
            <a:r>
              <a:rPr dirty="0" sz="170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Calibri"/>
                <a:cs typeface="Calibri"/>
              </a:rPr>
              <a:t>Q2-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Q4</a:t>
            </a:r>
            <a:r>
              <a:rPr dirty="0" sz="1700" spc="-10">
                <a:solidFill>
                  <a:srgbClr val="C9D5DE"/>
                </a:solidFill>
                <a:latin typeface="Calibri"/>
                <a:cs typeface="Calibri"/>
              </a:rPr>
              <a:t> strategies.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577455" y="2103882"/>
            <a:ext cx="12973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Markets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89393" y="2699892"/>
            <a:ext cx="5173980" cy="344423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577455" y="6333623"/>
            <a:ext cx="6006465" cy="73533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700" spc="-10" b="1">
                <a:solidFill>
                  <a:srgbClr val="C9D5DE"/>
                </a:solidFill>
                <a:latin typeface="Calibri"/>
                <a:cs typeface="Calibri"/>
              </a:rPr>
              <a:t>Maharashtra</a:t>
            </a:r>
            <a:r>
              <a:rPr dirty="0" sz="1700" spc="-35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C9D5DE"/>
                </a:solidFill>
                <a:latin typeface="Calibri"/>
                <a:cs typeface="Calibri"/>
              </a:rPr>
              <a:t>($2.98M)</a:t>
            </a:r>
            <a:r>
              <a:rPr dirty="0" sz="1700" spc="-25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and</a:t>
            </a:r>
            <a:r>
              <a:rPr dirty="0" sz="1700" spc="-2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C9D5DE"/>
                </a:solidFill>
                <a:latin typeface="Calibri"/>
                <a:cs typeface="Calibri"/>
              </a:rPr>
              <a:t>Karnataka</a:t>
            </a:r>
            <a:r>
              <a:rPr dirty="0" sz="1700" spc="-35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C9D5DE"/>
                </a:solidFill>
                <a:latin typeface="Calibri"/>
                <a:cs typeface="Calibri"/>
              </a:rPr>
              <a:t>($2.65M)</a:t>
            </a:r>
            <a:r>
              <a:rPr dirty="0" sz="1700" spc="-25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Calibri"/>
                <a:cs typeface="Calibri"/>
              </a:rPr>
              <a:t>dominate</a:t>
            </a:r>
            <a:r>
              <a:rPr dirty="0" sz="170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with</a:t>
            </a:r>
            <a:r>
              <a:rPr dirty="0" sz="170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C9D5DE"/>
                </a:solidFill>
                <a:latin typeface="Calibri"/>
                <a:cs typeface="Calibri"/>
              </a:rPr>
              <a:t>over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50%</a:t>
            </a:r>
            <a:r>
              <a:rPr dirty="0" sz="170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of</a:t>
            </a:r>
            <a:r>
              <a:rPr dirty="0" sz="1700" spc="-1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Calibri"/>
                <a:cs typeface="Calibri"/>
              </a:rPr>
              <a:t>top-state</a:t>
            </a:r>
            <a:r>
              <a:rPr dirty="0" sz="1700" spc="-2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sales</a:t>
            </a:r>
            <a:r>
              <a:rPr dirty="0" sz="170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Calibri"/>
                <a:cs typeface="Calibri"/>
              </a:rPr>
              <a:t>combined.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6887" y="503935"/>
            <a:ext cx="6986905" cy="5524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50"/>
              <a:t>Customer</a:t>
            </a:r>
            <a:r>
              <a:rPr dirty="0" sz="3450" spc="-135"/>
              <a:t> </a:t>
            </a:r>
            <a:r>
              <a:rPr dirty="0" sz="3450"/>
              <a:t>Demographics</a:t>
            </a:r>
            <a:r>
              <a:rPr dirty="0" sz="3450" spc="-125"/>
              <a:t> </a:t>
            </a:r>
            <a:r>
              <a:rPr dirty="0" sz="3450"/>
              <a:t>Drive</a:t>
            </a:r>
            <a:r>
              <a:rPr dirty="0" sz="3450" spc="-105"/>
              <a:t> </a:t>
            </a:r>
            <a:r>
              <a:rPr dirty="0" sz="3450" spc="-10"/>
              <a:t>Strategy</a:t>
            </a:r>
            <a:endParaRPr sz="3450"/>
          </a:p>
        </p:txBody>
      </p:sp>
      <p:grpSp>
        <p:nvGrpSpPr>
          <p:cNvPr id="3" name="object 3" descr=""/>
          <p:cNvGrpSpPr/>
          <p:nvPr/>
        </p:nvGrpSpPr>
        <p:grpSpPr>
          <a:xfrm>
            <a:off x="659485" y="1467230"/>
            <a:ext cx="4311650" cy="2123440"/>
            <a:chOff x="659485" y="1467230"/>
            <a:chExt cx="4311650" cy="2123440"/>
          </a:xfrm>
        </p:grpSpPr>
        <p:sp>
          <p:nvSpPr>
            <p:cNvPr id="4" name="object 4" descr=""/>
            <p:cNvSpPr/>
            <p:nvPr/>
          </p:nvSpPr>
          <p:spPr>
            <a:xfrm>
              <a:off x="659485" y="1467230"/>
              <a:ext cx="4311650" cy="2123440"/>
            </a:xfrm>
            <a:custGeom>
              <a:avLst/>
              <a:gdLst/>
              <a:ahLst/>
              <a:cxnLst/>
              <a:rect l="l" t="t" r="r" b="b"/>
              <a:pathLst>
                <a:path w="4311650" h="2123440">
                  <a:moveTo>
                    <a:pt x="4283227" y="0"/>
                  </a:moveTo>
                  <a:lnTo>
                    <a:pt x="28257" y="0"/>
                  </a:lnTo>
                  <a:lnTo>
                    <a:pt x="17257" y="2208"/>
                  </a:lnTo>
                  <a:lnTo>
                    <a:pt x="8275" y="8239"/>
                  </a:lnTo>
                  <a:lnTo>
                    <a:pt x="2220" y="17198"/>
                  </a:lnTo>
                  <a:lnTo>
                    <a:pt x="0" y="28194"/>
                  </a:lnTo>
                  <a:lnTo>
                    <a:pt x="0" y="2095119"/>
                  </a:lnTo>
                  <a:lnTo>
                    <a:pt x="2220" y="2106114"/>
                  </a:lnTo>
                  <a:lnTo>
                    <a:pt x="8275" y="2115073"/>
                  </a:lnTo>
                  <a:lnTo>
                    <a:pt x="17257" y="2121104"/>
                  </a:lnTo>
                  <a:lnTo>
                    <a:pt x="28257" y="2123313"/>
                  </a:lnTo>
                  <a:lnTo>
                    <a:pt x="4283227" y="2123313"/>
                  </a:lnTo>
                  <a:lnTo>
                    <a:pt x="4294242" y="2121104"/>
                  </a:lnTo>
                  <a:lnTo>
                    <a:pt x="4303245" y="2115073"/>
                  </a:lnTo>
                  <a:lnTo>
                    <a:pt x="4309319" y="2106114"/>
                  </a:lnTo>
                  <a:lnTo>
                    <a:pt x="4311548" y="2095119"/>
                  </a:lnTo>
                  <a:lnTo>
                    <a:pt x="4311548" y="28194"/>
                  </a:lnTo>
                  <a:lnTo>
                    <a:pt x="4309319" y="17198"/>
                  </a:lnTo>
                  <a:lnTo>
                    <a:pt x="4303245" y="8239"/>
                  </a:lnTo>
                  <a:lnTo>
                    <a:pt x="4294242" y="2208"/>
                  </a:lnTo>
                  <a:lnTo>
                    <a:pt x="4283227" y="0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47839" y="1655571"/>
              <a:ext cx="565785" cy="565785"/>
            </a:xfrm>
            <a:custGeom>
              <a:avLst/>
              <a:gdLst/>
              <a:ahLst/>
              <a:cxnLst/>
              <a:rect l="l" t="t" r="r" b="b"/>
              <a:pathLst>
                <a:path w="565785" h="565785">
                  <a:moveTo>
                    <a:pt x="282663" y="0"/>
                  </a:moveTo>
                  <a:lnTo>
                    <a:pt x="236814" y="3697"/>
                  </a:lnTo>
                  <a:lnTo>
                    <a:pt x="193321" y="14404"/>
                  </a:lnTo>
                  <a:lnTo>
                    <a:pt x="152764" y="31539"/>
                  </a:lnTo>
                  <a:lnTo>
                    <a:pt x="115727" y="54522"/>
                  </a:lnTo>
                  <a:lnTo>
                    <a:pt x="82791" y="82772"/>
                  </a:lnTo>
                  <a:lnTo>
                    <a:pt x="54538" y="115708"/>
                  </a:lnTo>
                  <a:lnTo>
                    <a:pt x="31550" y="152749"/>
                  </a:lnTo>
                  <a:lnTo>
                    <a:pt x="14410" y="193316"/>
                  </a:lnTo>
                  <a:lnTo>
                    <a:pt x="3699" y="236827"/>
                  </a:lnTo>
                  <a:lnTo>
                    <a:pt x="0" y="282701"/>
                  </a:lnTo>
                  <a:lnTo>
                    <a:pt x="3699" y="328542"/>
                  </a:lnTo>
                  <a:lnTo>
                    <a:pt x="14410" y="372025"/>
                  </a:lnTo>
                  <a:lnTo>
                    <a:pt x="31550" y="412570"/>
                  </a:lnTo>
                  <a:lnTo>
                    <a:pt x="54538" y="449596"/>
                  </a:lnTo>
                  <a:lnTo>
                    <a:pt x="82791" y="482520"/>
                  </a:lnTo>
                  <a:lnTo>
                    <a:pt x="115727" y="510762"/>
                  </a:lnTo>
                  <a:lnTo>
                    <a:pt x="152764" y="533740"/>
                  </a:lnTo>
                  <a:lnTo>
                    <a:pt x="193321" y="550873"/>
                  </a:lnTo>
                  <a:lnTo>
                    <a:pt x="236814" y="561579"/>
                  </a:lnTo>
                  <a:lnTo>
                    <a:pt x="282663" y="565276"/>
                  </a:lnTo>
                  <a:lnTo>
                    <a:pt x="328517" y="561579"/>
                  </a:lnTo>
                  <a:lnTo>
                    <a:pt x="372012" y="550873"/>
                  </a:lnTo>
                  <a:lnTo>
                    <a:pt x="412566" y="533740"/>
                  </a:lnTo>
                  <a:lnTo>
                    <a:pt x="449597" y="510762"/>
                  </a:lnTo>
                  <a:lnTo>
                    <a:pt x="482526" y="482520"/>
                  </a:lnTo>
                  <a:lnTo>
                    <a:pt x="510771" y="449596"/>
                  </a:lnTo>
                  <a:lnTo>
                    <a:pt x="533751" y="412570"/>
                  </a:lnTo>
                  <a:lnTo>
                    <a:pt x="550885" y="372025"/>
                  </a:lnTo>
                  <a:lnTo>
                    <a:pt x="561591" y="328542"/>
                  </a:lnTo>
                  <a:lnTo>
                    <a:pt x="565289" y="282701"/>
                  </a:lnTo>
                  <a:lnTo>
                    <a:pt x="561591" y="236827"/>
                  </a:lnTo>
                  <a:lnTo>
                    <a:pt x="550885" y="193316"/>
                  </a:lnTo>
                  <a:lnTo>
                    <a:pt x="533751" y="152749"/>
                  </a:lnTo>
                  <a:lnTo>
                    <a:pt x="510771" y="115708"/>
                  </a:lnTo>
                  <a:lnTo>
                    <a:pt x="482526" y="82772"/>
                  </a:lnTo>
                  <a:lnTo>
                    <a:pt x="449597" y="54522"/>
                  </a:lnTo>
                  <a:lnTo>
                    <a:pt x="412566" y="31539"/>
                  </a:lnTo>
                  <a:lnTo>
                    <a:pt x="372012" y="14404"/>
                  </a:lnTo>
                  <a:lnTo>
                    <a:pt x="328517" y="3697"/>
                  </a:lnTo>
                  <a:lnTo>
                    <a:pt x="282663" y="0"/>
                  </a:lnTo>
                  <a:close/>
                </a:path>
              </a:pathLst>
            </a:custGeom>
            <a:solidFill>
              <a:srgbClr val="0997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2376" y="1817082"/>
              <a:ext cx="136345" cy="243066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835253" y="2390901"/>
            <a:ext cx="167449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Women</a:t>
            </a:r>
            <a:r>
              <a:rPr dirty="0" sz="170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Lead</a:t>
            </a:r>
            <a:r>
              <a:rPr dirty="0" sz="170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Calibri"/>
                <a:cs typeface="Calibri"/>
              </a:rPr>
              <a:t>Sales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35253" y="2747822"/>
            <a:ext cx="3532504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100"/>
              </a:spcBef>
            </a:pPr>
            <a:r>
              <a:rPr dirty="0" sz="1450" b="1">
                <a:solidFill>
                  <a:srgbClr val="C9D5DE"/>
                </a:solidFill>
                <a:latin typeface="Calibri"/>
                <a:cs typeface="Calibri"/>
              </a:rPr>
              <a:t>64%</a:t>
            </a:r>
            <a:r>
              <a:rPr dirty="0" sz="1450" spc="-20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of</a:t>
            </a:r>
            <a:r>
              <a:rPr dirty="0" sz="14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total</a:t>
            </a:r>
            <a:r>
              <a:rPr dirty="0" sz="14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sales</a:t>
            </a:r>
            <a:r>
              <a:rPr dirty="0" sz="14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from</a:t>
            </a:r>
            <a:r>
              <a:rPr dirty="0" sz="14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female</a:t>
            </a:r>
            <a:r>
              <a:rPr dirty="0" sz="145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C9D5DE"/>
                </a:solidFill>
                <a:latin typeface="Calibri"/>
                <a:cs typeface="Calibri"/>
              </a:rPr>
              <a:t>customers—</a:t>
            </a:r>
            <a:r>
              <a:rPr dirty="0" sz="1450" spc="-25">
                <a:solidFill>
                  <a:srgbClr val="C9D5DE"/>
                </a:solidFill>
                <a:latin typeface="Calibri"/>
                <a:cs typeface="Calibri"/>
              </a:rPr>
              <a:t>the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dominant</a:t>
            </a:r>
            <a:r>
              <a:rPr dirty="0" sz="14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buying</a:t>
            </a:r>
            <a:r>
              <a:rPr dirty="0" sz="14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C9D5DE"/>
                </a:solidFill>
                <a:latin typeface="Calibri"/>
                <a:cs typeface="Calibri"/>
              </a:rPr>
              <a:t>force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159375" y="1467230"/>
            <a:ext cx="4311650" cy="2123440"/>
            <a:chOff x="5159375" y="1467230"/>
            <a:chExt cx="4311650" cy="2123440"/>
          </a:xfrm>
        </p:grpSpPr>
        <p:sp>
          <p:nvSpPr>
            <p:cNvPr id="10" name="object 10" descr=""/>
            <p:cNvSpPr/>
            <p:nvPr/>
          </p:nvSpPr>
          <p:spPr>
            <a:xfrm>
              <a:off x="5159375" y="1467230"/>
              <a:ext cx="4311650" cy="2123440"/>
            </a:xfrm>
            <a:custGeom>
              <a:avLst/>
              <a:gdLst/>
              <a:ahLst/>
              <a:cxnLst/>
              <a:rect l="l" t="t" r="r" b="b"/>
              <a:pathLst>
                <a:path w="4311650" h="2123440">
                  <a:moveTo>
                    <a:pt x="4283329" y="0"/>
                  </a:moveTo>
                  <a:lnTo>
                    <a:pt x="28194" y="0"/>
                  </a:lnTo>
                  <a:lnTo>
                    <a:pt x="17198" y="2208"/>
                  </a:lnTo>
                  <a:lnTo>
                    <a:pt x="8239" y="8239"/>
                  </a:lnTo>
                  <a:lnTo>
                    <a:pt x="2208" y="17198"/>
                  </a:lnTo>
                  <a:lnTo>
                    <a:pt x="0" y="28194"/>
                  </a:lnTo>
                  <a:lnTo>
                    <a:pt x="0" y="2095119"/>
                  </a:lnTo>
                  <a:lnTo>
                    <a:pt x="2208" y="2106134"/>
                  </a:lnTo>
                  <a:lnTo>
                    <a:pt x="8239" y="2115137"/>
                  </a:lnTo>
                  <a:lnTo>
                    <a:pt x="17198" y="2121211"/>
                  </a:lnTo>
                  <a:lnTo>
                    <a:pt x="28194" y="2123440"/>
                  </a:lnTo>
                  <a:lnTo>
                    <a:pt x="4283329" y="2123440"/>
                  </a:lnTo>
                  <a:lnTo>
                    <a:pt x="4294324" y="2121211"/>
                  </a:lnTo>
                  <a:lnTo>
                    <a:pt x="4303283" y="2115137"/>
                  </a:lnTo>
                  <a:lnTo>
                    <a:pt x="4309314" y="2106134"/>
                  </a:lnTo>
                  <a:lnTo>
                    <a:pt x="4311523" y="2095119"/>
                  </a:lnTo>
                  <a:lnTo>
                    <a:pt x="4311523" y="28194"/>
                  </a:lnTo>
                  <a:lnTo>
                    <a:pt x="4309314" y="17198"/>
                  </a:lnTo>
                  <a:lnTo>
                    <a:pt x="4303283" y="8239"/>
                  </a:lnTo>
                  <a:lnTo>
                    <a:pt x="4294324" y="2208"/>
                  </a:lnTo>
                  <a:lnTo>
                    <a:pt x="4283329" y="0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347715" y="1655571"/>
              <a:ext cx="565785" cy="565785"/>
            </a:xfrm>
            <a:custGeom>
              <a:avLst/>
              <a:gdLst/>
              <a:ahLst/>
              <a:cxnLst/>
              <a:rect l="l" t="t" r="r" b="b"/>
              <a:pathLst>
                <a:path w="565785" h="565785">
                  <a:moveTo>
                    <a:pt x="282575" y="0"/>
                  </a:moveTo>
                  <a:lnTo>
                    <a:pt x="236734" y="3697"/>
                  </a:lnTo>
                  <a:lnTo>
                    <a:pt x="193251" y="14404"/>
                  </a:lnTo>
                  <a:lnTo>
                    <a:pt x="152706" y="31539"/>
                  </a:lnTo>
                  <a:lnTo>
                    <a:pt x="115680" y="54522"/>
                  </a:lnTo>
                  <a:lnTo>
                    <a:pt x="82756" y="82772"/>
                  </a:lnTo>
                  <a:lnTo>
                    <a:pt x="54514" y="115708"/>
                  </a:lnTo>
                  <a:lnTo>
                    <a:pt x="31536" y="152749"/>
                  </a:lnTo>
                  <a:lnTo>
                    <a:pt x="14403" y="193316"/>
                  </a:lnTo>
                  <a:lnTo>
                    <a:pt x="3697" y="236827"/>
                  </a:lnTo>
                  <a:lnTo>
                    <a:pt x="0" y="282701"/>
                  </a:lnTo>
                  <a:lnTo>
                    <a:pt x="3697" y="328542"/>
                  </a:lnTo>
                  <a:lnTo>
                    <a:pt x="14403" y="372025"/>
                  </a:lnTo>
                  <a:lnTo>
                    <a:pt x="31536" y="412570"/>
                  </a:lnTo>
                  <a:lnTo>
                    <a:pt x="54514" y="449596"/>
                  </a:lnTo>
                  <a:lnTo>
                    <a:pt x="82756" y="482520"/>
                  </a:lnTo>
                  <a:lnTo>
                    <a:pt x="115680" y="510762"/>
                  </a:lnTo>
                  <a:lnTo>
                    <a:pt x="152706" y="533740"/>
                  </a:lnTo>
                  <a:lnTo>
                    <a:pt x="193251" y="550873"/>
                  </a:lnTo>
                  <a:lnTo>
                    <a:pt x="236734" y="561579"/>
                  </a:lnTo>
                  <a:lnTo>
                    <a:pt x="282575" y="565276"/>
                  </a:lnTo>
                  <a:lnTo>
                    <a:pt x="328449" y="561579"/>
                  </a:lnTo>
                  <a:lnTo>
                    <a:pt x="371960" y="550873"/>
                  </a:lnTo>
                  <a:lnTo>
                    <a:pt x="412527" y="533740"/>
                  </a:lnTo>
                  <a:lnTo>
                    <a:pt x="449568" y="510762"/>
                  </a:lnTo>
                  <a:lnTo>
                    <a:pt x="482504" y="482520"/>
                  </a:lnTo>
                  <a:lnTo>
                    <a:pt x="510754" y="449596"/>
                  </a:lnTo>
                  <a:lnTo>
                    <a:pt x="533737" y="412570"/>
                  </a:lnTo>
                  <a:lnTo>
                    <a:pt x="550872" y="372025"/>
                  </a:lnTo>
                  <a:lnTo>
                    <a:pt x="561579" y="328542"/>
                  </a:lnTo>
                  <a:lnTo>
                    <a:pt x="565276" y="282701"/>
                  </a:lnTo>
                  <a:lnTo>
                    <a:pt x="561579" y="236827"/>
                  </a:lnTo>
                  <a:lnTo>
                    <a:pt x="550872" y="193316"/>
                  </a:lnTo>
                  <a:lnTo>
                    <a:pt x="533737" y="152749"/>
                  </a:lnTo>
                  <a:lnTo>
                    <a:pt x="510754" y="115708"/>
                  </a:lnTo>
                  <a:lnTo>
                    <a:pt x="482504" y="82772"/>
                  </a:lnTo>
                  <a:lnTo>
                    <a:pt x="449568" y="54522"/>
                  </a:lnTo>
                  <a:lnTo>
                    <a:pt x="412527" y="31539"/>
                  </a:lnTo>
                  <a:lnTo>
                    <a:pt x="371960" y="14404"/>
                  </a:lnTo>
                  <a:lnTo>
                    <a:pt x="328449" y="3697"/>
                  </a:lnTo>
                  <a:lnTo>
                    <a:pt x="282575" y="0"/>
                  </a:lnTo>
                  <a:close/>
                </a:path>
              </a:pathLst>
            </a:custGeom>
            <a:solidFill>
              <a:srgbClr val="0997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7351" y="1816290"/>
              <a:ext cx="226027" cy="243851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5335651" y="2390901"/>
            <a:ext cx="169672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C9D5DE"/>
                </a:solidFill>
                <a:latin typeface="Calibri"/>
                <a:cs typeface="Calibri"/>
              </a:rPr>
              <a:t>Adult</a:t>
            </a:r>
            <a:r>
              <a:rPr dirty="0" sz="170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Calibri"/>
                <a:cs typeface="Calibri"/>
              </a:rPr>
              <a:t>Women</a:t>
            </a:r>
            <a:r>
              <a:rPr dirty="0" sz="170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C9D5DE"/>
                </a:solidFill>
                <a:latin typeface="Calibri"/>
                <a:cs typeface="Calibri"/>
              </a:rPr>
              <a:t>Core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335651" y="2747822"/>
            <a:ext cx="390969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100"/>
              </a:spcBef>
            </a:pPr>
            <a:r>
              <a:rPr dirty="0" sz="1450" b="1">
                <a:solidFill>
                  <a:srgbClr val="C9D5DE"/>
                </a:solidFill>
                <a:latin typeface="Calibri"/>
                <a:cs typeface="Calibri"/>
              </a:rPr>
              <a:t>34%</a:t>
            </a:r>
            <a:r>
              <a:rPr dirty="0" sz="1450" spc="-10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of</a:t>
            </a:r>
            <a:r>
              <a:rPr dirty="0" sz="14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orders</a:t>
            </a:r>
            <a:r>
              <a:rPr dirty="0" sz="14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from</a:t>
            </a:r>
            <a:r>
              <a:rPr dirty="0" sz="14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adult</a:t>
            </a:r>
            <a:r>
              <a:rPr dirty="0" sz="1450" spc="-2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women,</a:t>
            </a:r>
            <a:r>
              <a:rPr dirty="0" sz="1450" spc="-3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C9D5DE"/>
                </a:solidFill>
                <a:latin typeface="Calibri"/>
                <a:cs typeface="Calibri"/>
              </a:rPr>
              <a:t>establishing</a:t>
            </a:r>
            <a:r>
              <a:rPr dirty="0" sz="14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C9D5DE"/>
                </a:solidFill>
                <a:latin typeface="Calibri"/>
                <a:cs typeface="Calibri"/>
              </a:rPr>
              <a:t>them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as</a:t>
            </a:r>
            <a:r>
              <a:rPr dirty="0" sz="145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the</a:t>
            </a:r>
            <a:r>
              <a:rPr dirty="0" sz="1450" spc="-2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primary</a:t>
            </a:r>
            <a:r>
              <a:rPr dirty="0" sz="145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C9D5DE"/>
                </a:solidFill>
                <a:latin typeface="Calibri"/>
                <a:cs typeface="Calibri"/>
              </a:rPr>
              <a:t>market</a:t>
            </a:r>
            <a:r>
              <a:rPr dirty="0" sz="1450" spc="-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C9D5DE"/>
                </a:solidFill>
                <a:latin typeface="Calibri"/>
                <a:cs typeface="Calibri"/>
              </a:rPr>
              <a:t>segment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659366" y="1467230"/>
            <a:ext cx="4311650" cy="2123440"/>
            <a:chOff x="9659366" y="1467230"/>
            <a:chExt cx="4311650" cy="2123440"/>
          </a:xfrm>
        </p:grpSpPr>
        <p:sp>
          <p:nvSpPr>
            <p:cNvPr id="16" name="object 16" descr=""/>
            <p:cNvSpPr/>
            <p:nvPr/>
          </p:nvSpPr>
          <p:spPr>
            <a:xfrm>
              <a:off x="9659366" y="1467230"/>
              <a:ext cx="4311650" cy="2123440"/>
            </a:xfrm>
            <a:custGeom>
              <a:avLst/>
              <a:gdLst/>
              <a:ahLst/>
              <a:cxnLst/>
              <a:rect l="l" t="t" r="r" b="b"/>
              <a:pathLst>
                <a:path w="4311650" h="2123440">
                  <a:moveTo>
                    <a:pt x="4283328" y="0"/>
                  </a:moveTo>
                  <a:lnTo>
                    <a:pt x="28193" y="0"/>
                  </a:lnTo>
                  <a:lnTo>
                    <a:pt x="17198" y="2208"/>
                  </a:lnTo>
                  <a:lnTo>
                    <a:pt x="8239" y="8239"/>
                  </a:lnTo>
                  <a:lnTo>
                    <a:pt x="2208" y="17198"/>
                  </a:lnTo>
                  <a:lnTo>
                    <a:pt x="0" y="28194"/>
                  </a:lnTo>
                  <a:lnTo>
                    <a:pt x="0" y="2095119"/>
                  </a:lnTo>
                  <a:lnTo>
                    <a:pt x="2208" y="2106134"/>
                  </a:lnTo>
                  <a:lnTo>
                    <a:pt x="8239" y="2115137"/>
                  </a:lnTo>
                  <a:lnTo>
                    <a:pt x="17198" y="2121211"/>
                  </a:lnTo>
                  <a:lnTo>
                    <a:pt x="28193" y="2123440"/>
                  </a:lnTo>
                  <a:lnTo>
                    <a:pt x="4283328" y="2123440"/>
                  </a:lnTo>
                  <a:lnTo>
                    <a:pt x="4294324" y="2121211"/>
                  </a:lnTo>
                  <a:lnTo>
                    <a:pt x="4303283" y="2115137"/>
                  </a:lnTo>
                  <a:lnTo>
                    <a:pt x="4309314" y="2106134"/>
                  </a:lnTo>
                  <a:lnTo>
                    <a:pt x="4311522" y="2095119"/>
                  </a:lnTo>
                  <a:lnTo>
                    <a:pt x="4311522" y="28194"/>
                  </a:lnTo>
                  <a:lnTo>
                    <a:pt x="4309314" y="17198"/>
                  </a:lnTo>
                  <a:lnTo>
                    <a:pt x="4303283" y="8239"/>
                  </a:lnTo>
                  <a:lnTo>
                    <a:pt x="4294324" y="2208"/>
                  </a:lnTo>
                  <a:lnTo>
                    <a:pt x="4283328" y="0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847707" y="1655571"/>
              <a:ext cx="565785" cy="565785"/>
            </a:xfrm>
            <a:custGeom>
              <a:avLst/>
              <a:gdLst/>
              <a:ahLst/>
              <a:cxnLst/>
              <a:rect l="l" t="t" r="r" b="b"/>
              <a:pathLst>
                <a:path w="565784" h="565785">
                  <a:moveTo>
                    <a:pt x="282575" y="0"/>
                  </a:moveTo>
                  <a:lnTo>
                    <a:pt x="236734" y="3697"/>
                  </a:lnTo>
                  <a:lnTo>
                    <a:pt x="193251" y="14404"/>
                  </a:lnTo>
                  <a:lnTo>
                    <a:pt x="152706" y="31539"/>
                  </a:lnTo>
                  <a:lnTo>
                    <a:pt x="115680" y="54522"/>
                  </a:lnTo>
                  <a:lnTo>
                    <a:pt x="82756" y="82772"/>
                  </a:lnTo>
                  <a:lnTo>
                    <a:pt x="54514" y="115708"/>
                  </a:lnTo>
                  <a:lnTo>
                    <a:pt x="31536" y="152749"/>
                  </a:lnTo>
                  <a:lnTo>
                    <a:pt x="14403" y="193316"/>
                  </a:lnTo>
                  <a:lnTo>
                    <a:pt x="3697" y="236827"/>
                  </a:lnTo>
                  <a:lnTo>
                    <a:pt x="0" y="282701"/>
                  </a:lnTo>
                  <a:lnTo>
                    <a:pt x="3697" y="328542"/>
                  </a:lnTo>
                  <a:lnTo>
                    <a:pt x="14403" y="372025"/>
                  </a:lnTo>
                  <a:lnTo>
                    <a:pt x="31536" y="412570"/>
                  </a:lnTo>
                  <a:lnTo>
                    <a:pt x="54514" y="449596"/>
                  </a:lnTo>
                  <a:lnTo>
                    <a:pt x="82756" y="482520"/>
                  </a:lnTo>
                  <a:lnTo>
                    <a:pt x="115680" y="510762"/>
                  </a:lnTo>
                  <a:lnTo>
                    <a:pt x="152706" y="533740"/>
                  </a:lnTo>
                  <a:lnTo>
                    <a:pt x="193251" y="550873"/>
                  </a:lnTo>
                  <a:lnTo>
                    <a:pt x="236734" y="561579"/>
                  </a:lnTo>
                  <a:lnTo>
                    <a:pt x="282575" y="565276"/>
                  </a:lnTo>
                  <a:lnTo>
                    <a:pt x="328418" y="561579"/>
                  </a:lnTo>
                  <a:lnTo>
                    <a:pt x="371911" y="550873"/>
                  </a:lnTo>
                  <a:lnTo>
                    <a:pt x="412471" y="533740"/>
                  </a:lnTo>
                  <a:lnTo>
                    <a:pt x="449513" y="510762"/>
                  </a:lnTo>
                  <a:lnTo>
                    <a:pt x="482457" y="482520"/>
                  </a:lnTo>
                  <a:lnTo>
                    <a:pt x="510717" y="449596"/>
                  </a:lnTo>
                  <a:lnTo>
                    <a:pt x="533713" y="412570"/>
                  </a:lnTo>
                  <a:lnTo>
                    <a:pt x="550859" y="372025"/>
                  </a:lnTo>
                  <a:lnTo>
                    <a:pt x="561575" y="328542"/>
                  </a:lnTo>
                  <a:lnTo>
                    <a:pt x="565276" y="282701"/>
                  </a:lnTo>
                  <a:lnTo>
                    <a:pt x="561575" y="236827"/>
                  </a:lnTo>
                  <a:lnTo>
                    <a:pt x="550859" y="193316"/>
                  </a:lnTo>
                  <a:lnTo>
                    <a:pt x="533713" y="152749"/>
                  </a:lnTo>
                  <a:lnTo>
                    <a:pt x="510717" y="115708"/>
                  </a:lnTo>
                  <a:lnTo>
                    <a:pt x="482457" y="82772"/>
                  </a:lnTo>
                  <a:lnTo>
                    <a:pt x="449513" y="54522"/>
                  </a:lnTo>
                  <a:lnTo>
                    <a:pt x="412471" y="31539"/>
                  </a:lnTo>
                  <a:lnTo>
                    <a:pt x="371911" y="14404"/>
                  </a:lnTo>
                  <a:lnTo>
                    <a:pt x="328418" y="3697"/>
                  </a:lnTo>
                  <a:lnTo>
                    <a:pt x="282575" y="0"/>
                  </a:lnTo>
                  <a:close/>
                </a:path>
              </a:pathLst>
            </a:custGeom>
            <a:solidFill>
              <a:srgbClr val="09978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28303" y="1816419"/>
              <a:ext cx="203941" cy="243729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9836022" y="2390901"/>
            <a:ext cx="156781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40">
                <a:solidFill>
                  <a:srgbClr val="C9D5DE"/>
                </a:solidFill>
                <a:latin typeface="Calibri"/>
                <a:cs typeface="Calibri"/>
              </a:rPr>
              <a:t>Teen</a:t>
            </a:r>
            <a:r>
              <a:rPr dirty="0" sz="170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C9D5DE"/>
                </a:solidFill>
                <a:latin typeface="Calibri"/>
                <a:cs typeface="Calibri"/>
              </a:rPr>
              <a:t>Opportunity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836022" y="2747822"/>
            <a:ext cx="3583304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100"/>
              </a:spcBef>
            </a:pPr>
            <a:r>
              <a:rPr dirty="0" sz="1450" b="1">
                <a:solidFill>
                  <a:srgbClr val="C9D5DE"/>
                </a:solidFill>
                <a:latin typeface="Calibri"/>
                <a:cs typeface="Calibri"/>
              </a:rPr>
              <a:t>21%</a:t>
            </a:r>
            <a:r>
              <a:rPr dirty="0" sz="1450" spc="-10" b="1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from</a:t>
            </a:r>
            <a:r>
              <a:rPr dirty="0" sz="14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teenage</a:t>
            </a:r>
            <a:r>
              <a:rPr dirty="0" sz="1450" spc="-2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C9D5DE"/>
                </a:solidFill>
                <a:latin typeface="Calibri"/>
                <a:cs typeface="Calibri"/>
              </a:rPr>
              <a:t>women—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a</a:t>
            </a:r>
            <a:r>
              <a:rPr dirty="0" sz="14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C9D5DE"/>
                </a:solidFill>
                <a:latin typeface="Calibri"/>
                <a:cs typeface="Calibri"/>
              </a:rPr>
              <a:t>strong</a:t>
            </a:r>
            <a:r>
              <a:rPr dirty="0" sz="14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C9D5DE"/>
                </a:solidFill>
                <a:latin typeface="Calibri"/>
                <a:cs typeface="Calibri"/>
              </a:rPr>
              <a:t>secondary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segment</a:t>
            </a:r>
            <a:r>
              <a:rPr dirty="0" sz="14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C9D5DE"/>
                </a:solidFill>
                <a:latin typeface="Calibri"/>
                <a:cs typeface="Calibri"/>
              </a:rPr>
              <a:t>for</a:t>
            </a:r>
            <a:r>
              <a:rPr dirty="0" sz="14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C9D5DE"/>
                </a:solidFill>
                <a:latin typeface="Calibri"/>
                <a:cs typeface="Calibri"/>
              </a:rPr>
              <a:t>growth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9485" y="4014431"/>
            <a:ext cx="3909060" cy="344424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52563" y="3991571"/>
            <a:ext cx="3931920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095" y="304291"/>
            <a:ext cx="537337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Operational</a:t>
            </a:r>
            <a:r>
              <a:rPr dirty="0" sz="2200" spc="-60"/>
              <a:t> </a:t>
            </a:r>
            <a:r>
              <a:rPr dirty="0" sz="2200"/>
              <a:t>Excellence</a:t>
            </a:r>
            <a:r>
              <a:rPr dirty="0" sz="2200" spc="-45"/>
              <a:t> </a:t>
            </a:r>
            <a:r>
              <a:rPr dirty="0" sz="2200"/>
              <a:t>&amp;</a:t>
            </a:r>
            <a:r>
              <a:rPr dirty="0" sz="2200" spc="-55"/>
              <a:t> </a:t>
            </a:r>
            <a:r>
              <a:rPr dirty="0" sz="2200"/>
              <a:t>Channel</a:t>
            </a:r>
            <a:r>
              <a:rPr dirty="0" sz="2200" spc="-70"/>
              <a:t> </a:t>
            </a:r>
            <a:r>
              <a:rPr dirty="0" sz="2200" spc="-10"/>
              <a:t>Performance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406095" y="846785"/>
            <a:ext cx="21717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Fulfillment</a:t>
            </a:r>
            <a:r>
              <a:rPr dirty="0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Efficiency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858" y="1290574"/>
            <a:ext cx="5052060" cy="34366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752335" y="846785"/>
            <a:ext cx="21507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Channel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4528" y="1292605"/>
            <a:ext cx="5364607" cy="3434588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97535" y="4882642"/>
            <a:ext cx="477139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92%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orders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successfully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delivered,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showing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a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highly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reliable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fulfillment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dirty="0" sz="1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few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issues.</a:t>
            </a:r>
            <a:endParaRPr sz="1800">
              <a:latin typeface="Calibri"/>
              <a:cs typeface="Calibri"/>
            </a:endParaRPr>
          </a:p>
          <a:p>
            <a:pPr marL="12700" marR="100330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Cancellations,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returns,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refunds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together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make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8%,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indicating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satisfaction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accurate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expectations.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844030" y="4882642"/>
            <a:ext cx="472757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(35%),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Myntra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(23%),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Flipkart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(22%)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together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generate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80%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orders,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highlighting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dominance.</a:t>
            </a:r>
            <a:endParaRPr sz="1800">
              <a:latin typeface="Calibri"/>
              <a:cs typeface="Calibri"/>
            </a:endParaRPr>
          </a:p>
          <a:p>
            <a:pPr marL="12700" marR="685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remaining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20%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niche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platforms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presents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potential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strategic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partnerships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growth.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Strategic</a:t>
            </a:r>
            <a:r>
              <a:rPr dirty="0" spc="-160"/>
              <a:t> </a:t>
            </a:r>
            <a:r>
              <a:rPr dirty="0" spc="-10"/>
              <a:t>Recommendations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64463" y="3311728"/>
            <a:ext cx="226441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Combat</a:t>
            </a:r>
            <a:r>
              <a:rPr dirty="0" sz="2200" spc="-10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Seasonality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4463" y="3771730"/>
            <a:ext cx="3778885" cy="78867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Implement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targeted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Q2-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Q4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promotions</a:t>
            </a:r>
            <a:endParaRPr sz="1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to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stabilize</a:t>
            </a:r>
            <a:r>
              <a:rPr dirty="0" sz="185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revenue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fluctuations</a:t>
            </a:r>
            <a:endParaRPr sz="185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730" y="2139518"/>
            <a:ext cx="12954850" cy="957503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383148" y="3311728"/>
            <a:ext cx="232346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Focus</a:t>
            </a:r>
            <a:r>
              <a:rPr dirty="0" sz="220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Core</a:t>
            </a:r>
            <a:r>
              <a:rPr dirty="0" sz="220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Segment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83148" y="3771730"/>
            <a:ext cx="3743960" cy="1550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200"/>
              </a:lnSpc>
              <a:spcBef>
                <a:spcPts val="100"/>
              </a:spcBef>
            </a:pPr>
            <a:r>
              <a:rPr dirty="0" sz="1850" spc="-30">
                <a:solidFill>
                  <a:srgbClr val="C9D5DE"/>
                </a:solidFill>
                <a:latin typeface="Calibri"/>
                <a:cs typeface="Calibri"/>
              </a:rPr>
              <a:t>Target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women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aged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30-39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in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Maharashtra,</a:t>
            </a:r>
            <a:r>
              <a:rPr dirty="0" sz="1850" spc="-6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Karnataka,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Uttar</a:t>
            </a:r>
            <a:r>
              <a:rPr dirty="0" sz="1850" spc="-7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Pradesh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with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focused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campaigns</a:t>
            </a:r>
            <a:r>
              <a:rPr dirty="0" sz="1850" spc="-4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on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Amazon,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Flipkart,</a:t>
            </a:r>
            <a:r>
              <a:rPr dirty="0" sz="1850" spc="-9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Myntra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701910" y="3311728"/>
            <a:ext cx="228727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C9D5DE"/>
                </a:solidFill>
                <a:latin typeface="Calibri"/>
                <a:cs typeface="Calibri"/>
              </a:rPr>
              <a:t>Expand</a:t>
            </a:r>
            <a:r>
              <a:rPr dirty="0" sz="220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C9D5DE"/>
                </a:solidFill>
                <a:latin typeface="Calibri"/>
                <a:cs typeface="Calibri"/>
              </a:rPr>
              <a:t>Strategically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701910" y="3771730"/>
            <a:ext cx="3489325" cy="1169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200"/>
              </a:lnSpc>
              <a:spcBef>
                <a:spcPts val="100"/>
              </a:spcBef>
            </a:pP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Boost</a:t>
            </a:r>
            <a:r>
              <a:rPr dirty="0" sz="1850" spc="-5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male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engagement,</a:t>
            </a:r>
            <a:r>
              <a:rPr dirty="0" sz="1850" spc="-4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strengthen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niche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platform</a:t>
            </a:r>
            <a:r>
              <a:rPr dirty="0" sz="1850" spc="-3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partnerships, </a:t>
            </a:r>
            <a:r>
              <a:rPr dirty="0" sz="1850" spc="-25">
                <a:solidFill>
                  <a:srgbClr val="C9D5DE"/>
                </a:solidFill>
                <a:latin typeface="Calibri"/>
                <a:cs typeface="Calibri"/>
              </a:rPr>
              <a:t>and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expand</a:t>
            </a:r>
            <a:r>
              <a:rPr dirty="0" sz="1850" spc="-8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in</a:t>
            </a:r>
            <a:r>
              <a:rPr dirty="0" sz="1850" spc="-60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high-</a:t>
            </a:r>
            <a:r>
              <a:rPr dirty="0" sz="1850">
                <a:solidFill>
                  <a:srgbClr val="C9D5DE"/>
                </a:solidFill>
                <a:latin typeface="Calibri"/>
                <a:cs typeface="Calibri"/>
              </a:rPr>
              <a:t>potential</a:t>
            </a:r>
            <a:r>
              <a:rPr dirty="0" sz="1850" spc="-55">
                <a:solidFill>
                  <a:srgbClr val="C9D5DE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C9D5DE"/>
                </a:solidFill>
                <a:latin typeface="Calibri"/>
                <a:cs typeface="Calibri"/>
              </a:rPr>
              <a:t>states</a:t>
            </a:r>
            <a:endParaRPr sz="185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837730" y="5872479"/>
            <a:ext cx="12955270" cy="1400810"/>
            <a:chOff x="837730" y="5872479"/>
            <a:chExt cx="12955270" cy="1400810"/>
          </a:xfrm>
        </p:grpSpPr>
        <p:sp>
          <p:nvSpPr>
            <p:cNvPr id="11" name="object 11" descr=""/>
            <p:cNvSpPr/>
            <p:nvPr/>
          </p:nvSpPr>
          <p:spPr>
            <a:xfrm>
              <a:off x="837730" y="5872479"/>
              <a:ext cx="12955270" cy="1400810"/>
            </a:xfrm>
            <a:custGeom>
              <a:avLst/>
              <a:gdLst/>
              <a:ahLst/>
              <a:cxnLst/>
              <a:rect l="l" t="t" r="r" b="b"/>
              <a:pathLst>
                <a:path w="12955269" h="1400809">
                  <a:moveTo>
                    <a:pt x="12919036" y="0"/>
                  </a:moveTo>
                  <a:lnTo>
                    <a:pt x="35890" y="0"/>
                  </a:lnTo>
                  <a:lnTo>
                    <a:pt x="21918" y="2829"/>
                  </a:lnTo>
                  <a:lnTo>
                    <a:pt x="10510" y="10541"/>
                  </a:lnTo>
                  <a:lnTo>
                    <a:pt x="2819" y="21967"/>
                  </a:lnTo>
                  <a:lnTo>
                    <a:pt x="0" y="35941"/>
                  </a:lnTo>
                  <a:lnTo>
                    <a:pt x="0" y="1364310"/>
                  </a:lnTo>
                  <a:lnTo>
                    <a:pt x="2819" y="1378288"/>
                  </a:lnTo>
                  <a:lnTo>
                    <a:pt x="10510" y="1389700"/>
                  </a:lnTo>
                  <a:lnTo>
                    <a:pt x="21918" y="1397392"/>
                  </a:lnTo>
                  <a:lnTo>
                    <a:pt x="35890" y="1400213"/>
                  </a:lnTo>
                  <a:lnTo>
                    <a:pt x="12919036" y="1400213"/>
                  </a:lnTo>
                  <a:lnTo>
                    <a:pt x="12933010" y="1397392"/>
                  </a:lnTo>
                  <a:lnTo>
                    <a:pt x="12944436" y="1389700"/>
                  </a:lnTo>
                  <a:lnTo>
                    <a:pt x="12952148" y="1378288"/>
                  </a:lnTo>
                  <a:lnTo>
                    <a:pt x="12954977" y="1364310"/>
                  </a:lnTo>
                  <a:lnTo>
                    <a:pt x="12954977" y="35941"/>
                  </a:lnTo>
                  <a:lnTo>
                    <a:pt x="12952148" y="21967"/>
                  </a:lnTo>
                  <a:lnTo>
                    <a:pt x="12944436" y="10541"/>
                  </a:lnTo>
                  <a:lnTo>
                    <a:pt x="12933010" y="2829"/>
                  </a:lnTo>
                  <a:lnTo>
                    <a:pt x="12919036" y="0"/>
                  </a:lnTo>
                  <a:close/>
                </a:path>
              </a:pathLst>
            </a:custGeom>
            <a:solidFill>
              <a:srgbClr val="0447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7036" y="6236538"/>
              <a:ext cx="299199" cy="239318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602994" y="6112586"/>
            <a:ext cx="10837545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100"/>
              </a:spcBef>
            </a:pPr>
            <a:r>
              <a:rPr dirty="0" sz="1850" b="1">
                <a:solidFill>
                  <a:srgbClr val="FFFFFF"/>
                </a:solidFill>
                <a:latin typeface="Calibri"/>
                <a:cs typeface="Calibri"/>
              </a:rPr>
              <a:t>Conclusion:</a:t>
            </a:r>
            <a:r>
              <a:rPr dirty="0" sz="1850" spc="-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Strong</a:t>
            </a:r>
            <a:r>
              <a:rPr dirty="0" sz="185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seasonal</a:t>
            </a:r>
            <a:r>
              <a:rPr dirty="0" sz="18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trends,</a:t>
            </a:r>
            <a:r>
              <a:rPr dirty="0" sz="18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dominant</a:t>
            </a:r>
            <a:r>
              <a:rPr dirty="0" sz="185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female</a:t>
            </a:r>
            <a:r>
              <a:rPr dirty="0" sz="185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dirty="0" sz="18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base,</a:t>
            </a:r>
            <a:r>
              <a:rPr dirty="0" sz="185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5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geographic</a:t>
            </a:r>
            <a:r>
              <a:rPr dirty="0" sz="18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concentration</a:t>
            </a:r>
            <a:r>
              <a:rPr dirty="0" sz="18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present</a:t>
            </a:r>
            <a:r>
              <a:rPr dirty="0" sz="18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clear opportunities.</a:t>
            </a:r>
            <a:r>
              <a:rPr dirty="0" sz="18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30">
                <a:solidFill>
                  <a:srgbClr val="FFFFFF"/>
                </a:solidFill>
                <a:latin typeface="Calibri"/>
                <a:cs typeface="Calibri"/>
              </a:rPr>
              <a:t>Targeted</a:t>
            </a:r>
            <a:r>
              <a:rPr dirty="0" sz="18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marketing</a:t>
            </a:r>
            <a:r>
              <a:rPr dirty="0" sz="18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regional</a:t>
            </a:r>
            <a:r>
              <a:rPr dirty="0" sz="18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expansion</a:t>
            </a:r>
            <a:r>
              <a:rPr dirty="0" sz="18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dirty="0" sz="18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sustain</a:t>
            </a:r>
            <a:r>
              <a:rPr dirty="0" sz="18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enhance</a:t>
            </a:r>
            <a:r>
              <a:rPr dirty="0" sz="18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dirty="0" sz="18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Calibri"/>
                <a:cs typeface="Calibri"/>
              </a:rPr>
              <a:t>performance.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Naresh Kumbar</dc:creator>
  <dcterms:created xsi:type="dcterms:W3CDTF">2025-12-05T18:07:28Z</dcterms:created>
  <dcterms:modified xsi:type="dcterms:W3CDTF">2025-12-05T18:07:28Z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2025-12-05T00:00:00Z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2025-12-05T00:00:00Z</vt:filetime>
  </property>
  <property fmtid="{D5CDD505-2E9C-101B-9397-08002B2CF9AE}" pid="5" name="Producer">
    <vt:lpwstr>Microsoft® PowerPoint® 2021</vt:lpwstr>
  </property>
</Properties>
</file>